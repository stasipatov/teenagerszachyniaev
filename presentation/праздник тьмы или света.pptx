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9DFC678-BA17-449D-9BBB-9058A5EF4BC0}" type="datetimeFigureOut">
              <a:rPr lang="uk-UA" smtClean="0"/>
              <a:t>31.10.2025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E43A21B-8A2E-480D-B07C-B69A915E2419}" type="slidenum">
              <a:rPr lang="uk-UA" smtClean="0"/>
              <a:t>‹#›</a:t>
            </a:fld>
            <a:endParaRPr lang="uk-UA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4002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FC678-BA17-449D-9BBB-9058A5EF4BC0}" type="datetimeFigureOut">
              <a:rPr lang="uk-UA" smtClean="0"/>
              <a:t>31.10.2025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A21B-8A2E-480D-B07C-B69A915E24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09766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DFC678-BA17-449D-9BBB-9058A5EF4BC0}" type="datetimeFigureOut">
              <a:rPr lang="uk-UA" smtClean="0"/>
              <a:t>31.10.2025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E43A21B-8A2E-480D-B07C-B69A915E2419}" type="slidenum">
              <a:rPr lang="uk-UA" smtClean="0"/>
              <a:t>‹#›</a:t>
            </a:fld>
            <a:endParaRPr lang="uk-UA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36309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FC678-BA17-449D-9BBB-9058A5EF4BC0}" type="datetimeFigureOut">
              <a:rPr lang="uk-UA" smtClean="0"/>
              <a:t>31.10.2025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A21B-8A2E-480D-B07C-B69A915E24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0704753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FC678-BA17-449D-9BBB-9058A5EF4BC0}" type="datetimeFigureOut">
              <a:rPr lang="uk-UA" smtClean="0"/>
              <a:t>31.10.2025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A21B-8A2E-480D-B07C-B69A915E24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555050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FC678-BA17-449D-9BBB-9058A5EF4BC0}" type="datetimeFigureOut">
              <a:rPr lang="uk-UA" smtClean="0"/>
              <a:t>31.10.2025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A21B-8A2E-480D-B07C-B69A915E24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89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FC678-BA17-449D-9BBB-9058A5EF4BC0}" type="datetimeFigureOut">
              <a:rPr lang="uk-UA" smtClean="0"/>
              <a:t>31.10.2025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A21B-8A2E-480D-B07C-B69A915E24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6153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59DFC678-BA17-449D-9BBB-9058A5EF4BC0}" type="datetimeFigureOut">
              <a:rPr lang="uk-UA" smtClean="0"/>
              <a:t>31.10.2025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1E43A21B-8A2E-480D-B07C-B69A915E2419}" type="slidenum">
              <a:rPr lang="uk-UA" smtClean="0"/>
              <a:t>‹#›</a:t>
            </a:fld>
            <a:endParaRPr lang="uk-UA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9373958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4294967295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59DFC678-BA17-449D-9BBB-9058A5EF4BC0}" type="datetimeFigureOut">
              <a:rPr lang="uk-UA" smtClean="0"/>
              <a:t>31.10.2025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1E43A21B-8A2E-480D-B07C-B69A915E24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6256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FC678-BA17-449D-9BBB-9058A5EF4BC0}" type="datetimeFigureOut">
              <a:rPr lang="uk-UA" smtClean="0"/>
              <a:t>31.10.2025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A21B-8A2E-480D-B07C-B69A915E24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9511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FC678-BA17-449D-9BBB-9058A5EF4BC0}" type="datetimeFigureOut">
              <a:rPr lang="uk-UA" smtClean="0"/>
              <a:t>31.10.2025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A21B-8A2E-480D-B07C-B69A915E24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7154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9DFC678-BA17-449D-9BBB-9058A5EF4BC0}" type="datetimeFigureOut">
              <a:rPr lang="uk-UA" smtClean="0"/>
              <a:t>31.10.2025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E43A21B-8A2E-480D-B07C-B69A915E2419}" type="slidenum">
              <a:rPr lang="uk-UA" smtClean="0"/>
              <a:t>‹#›</a:t>
            </a:fld>
            <a:endParaRPr lang="uk-UA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65222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4294967295" pos="792">
          <p15:clr>
            <a:srgbClr val="F26B43"/>
          </p15:clr>
        </p15:guide>
        <p15:guide id="4294967295" pos="7200">
          <p15:clr>
            <a:srgbClr val="F26B43"/>
          </p15:clr>
        </p15:guide>
        <p15:guide id="4294967295" orient="horz" pos="4008">
          <p15:clr>
            <a:srgbClr val="F26B43"/>
          </p15:clr>
        </p15:guide>
        <p15:guide id="4294967295" orient="horz" pos="1440">
          <p15:clr>
            <a:srgbClr val="F26B43"/>
          </p15:clr>
        </p15:guide>
        <p15:guide id="4294967295" orient="horz" pos="3720">
          <p15:clr>
            <a:srgbClr val="F26B43"/>
          </p15:clr>
        </p15:guide>
        <p15:guide id="4294967295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2742092"/>
          </a:xfrm>
        </p:spPr>
        <p:txBody>
          <a:bodyPr/>
          <a:lstStyle/>
          <a:p>
            <a:r>
              <a:rPr lang="ru-RU" sz="4800" dirty="0" smtClean="0"/>
              <a:t>«Хэллоуин </a:t>
            </a:r>
            <a:r>
              <a:rPr lang="ru-RU" sz="4800" dirty="0"/>
              <a:t>— праздник тьмы или света?»</a:t>
            </a:r>
            <a:endParaRPr lang="uk-UA" sz="4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780" y="3441699"/>
            <a:ext cx="4121659" cy="230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46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070496"/>
          </a:xfrm>
        </p:spPr>
        <p:txBody>
          <a:bodyPr/>
          <a:lstStyle/>
          <a:p>
            <a:r>
              <a:rPr lang="ru-RU" dirty="0" smtClean="0"/>
              <a:t>От </a:t>
            </a:r>
            <a:r>
              <a:rPr lang="ru-RU" dirty="0" err="1" smtClean="0"/>
              <a:t>самайна</a:t>
            </a:r>
            <a:r>
              <a:rPr lang="ru-RU" dirty="0" smtClean="0"/>
              <a:t> к </a:t>
            </a:r>
            <a:r>
              <a:rPr lang="ru-RU" dirty="0" err="1" smtClean="0"/>
              <a:t>хэллоуину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82556" y="1635761"/>
            <a:ext cx="10178322" cy="4121912"/>
          </a:xfrm>
        </p:spPr>
        <p:txBody>
          <a:bodyPr/>
          <a:lstStyle/>
          <a:p>
            <a:r>
              <a:rPr lang="ru-RU" sz="2400" b="1" dirty="0" err="1">
                <a:solidFill>
                  <a:schemeClr val="tx1"/>
                </a:solidFill>
              </a:rPr>
              <a:t>Самайн</a:t>
            </a:r>
            <a:r>
              <a:rPr lang="ru-RU" sz="2400" b="1" dirty="0">
                <a:solidFill>
                  <a:schemeClr val="tx1"/>
                </a:solidFill>
              </a:rPr>
              <a:t> — праздник тьмы и духов</a:t>
            </a:r>
          </a:p>
          <a:p>
            <a:r>
              <a:rPr lang="ru-RU" sz="2400" b="1" dirty="0" smtClean="0">
                <a:solidFill>
                  <a:schemeClr val="tx1"/>
                </a:solidFill>
              </a:rPr>
              <a:t>это древний кельтский праздник который отмечали в ночь с 31 октября на 1 ноября, еще до появления христианства.</a:t>
            </a:r>
          </a:p>
          <a:p>
            <a:endParaRPr lang="ru-RU" sz="2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</a:rPr>
              <a:t>• разжигали костры,</a:t>
            </a:r>
          </a:p>
          <a:p>
            <a:pPr marL="0" indent="0">
              <a:buNone/>
            </a:pPr>
            <a:r>
              <a:rPr lang="ru-RU" sz="2400" b="1" dirty="0" smtClean="0">
                <a:solidFill>
                  <a:schemeClr val="tx1"/>
                </a:solidFill>
              </a:rPr>
              <a:t>• </a:t>
            </a:r>
            <a:r>
              <a:rPr lang="ru-RU" sz="2400" b="1" dirty="0">
                <a:solidFill>
                  <a:schemeClr val="tx1"/>
                </a:solidFill>
              </a:rPr>
              <a:t>надевали маски и шкуры животных,</a:t>
            </a:r>
          </a:p>
          <a:p>
            <a:pPr marL="0" indent="0">
              <a:buNone/>
            </a:pPr>
            <a:r>
              <a:rPr lang="ru-RU" sz="2400" b="1" dirty="0" smtClean="0">
                <a:solidFill>
                  <a:schemeClr val="tx1"/>
                </a:solidFill>
              </a:rPr>
              <a:t>• </a:t>
            </a:r>
            <a:r>
              <a:rPr lang="ru-RU" sz="2400" b="1" dirty="0">
                <a:solidFill>
                  <a:schemeClr val="tx1"/>
                </a:solidFill>
              </a:rPr>
              <a:t>приносили жертвы,</a:t>
            </a:r>
          </a:p>
          <a:p>
            <a:pPr marL="0" indent="0">
              <a:buNone/>
            </a:pPr>
            <a:r>
              <a:rPr lang="ru-RU" sz="2400" b="1" dirty="0" smtClean="0">
                <a:solidFill>
                  <a:schemeClr val="tx1"/>
                </a:solidFill>
              </a:rPr>
              <a:t>• </a:t>
            </a:r>
            <a:r>
              <a:rPr lang="ru-RU" sz="2400" b="1" dirty="0">
                <a:solidFill>
                  <a:schemeClr val="tx1"/>
                </a:solidFill>
              </a:rPr>
              <a:t>гадали о будущем</a:t>
            </a:r>
            <a:endParaRPr lang="ru-RU" sz="2400" b="1" dirty="0" smtClean="0">
              <a:solidFill>
                <a:schemeClr val="tx1"/>
              </a:solidFill>
            </a:endParaRPr>
          </a:p>
          <a:p>
            <a:endParaRPr lang="ru-RU" dirty="0" smtClean="0"/>
          </a:p>
          <a:p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912" y="3520742"/>
            <a:ext cx="3636328" cy="241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00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382385"/>
            <a:ext cx="10058400" cy="1121295"/>
          </a:xfrm>
        </p:spPr>
        <p:txBody>
          <a:bodyPr>
            <a:normAutofit/>
          </a:bodyPr>
          <a:lstStyle/>
          <a:p>
            <a:r>
              <a:rPr lang="ru-RU" sz="4000" dirty="0"/>
              <a:t>День всех святых — праздник света</a:t>
            </a:r>
            <a:endParaRPr lang="uk-UA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3038" y="2032001"/>
            <a:ext cx="7577362" cy="3593591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chemeClr val="tx1"/>
                </a:solidFill>
              </a:rPr>
              <a:t>В VIII веке </a:t>
            </a:r>
            <a:r>
              <a:rPr lang="ru-RU" sz="2400" b="1" dirty="0" smtClean="0">
                <a:solidFill>
                  <a:schemeClr val="tx1"/>
                </a:solidFill>
              </a:rPr>
              <a:t>папа </a:t>
            </a:r>
            <a:r>
              <a:rPr lang="ru-RU" sz="2400" b="1" dirty="0">
                <a:solidFill>
                  <a:schemeClr val="tx1"/>
                </a:solidFill>
              </a:rPr>
              <a:t>Григорий III установил 1 ноября как День всех </a:t>
            </a:r>
            <a:r>
              <a:rPr lang="ru-RU" sz="2400" b="1" dirty="0" smtClean="0">
                <a:solidFill>
                  <a:schemeClr val="tx1"/>
                </a:solidFill>
              </a:rPr>
              <a:t>святых</a:t>
            </a:r>
          </a:p>
          <a:p>
            <a:endParaRPr lang="ru-RU" sz="2400" b="1" dirty="0" smtClean="0">
              <a:solidFill>
                <a:schemeClr val="tx1"/>
              </a:solidFill>
            </a:endParaRPr>
          </a:p>
          <a:p>
            <a:r>
              <a:rPr lang="ru-RU" sz="2400" b="1" dirty="0" smtClean="0">
                <a:solidFill>
                  <a:schemeClr val="tx1"/>
                </a:solidFill>
              </a:rPr>
              <a:t>Цель </a:t>
            </a:r>
            <a:r>
              <a:rPr lang="ru-RU" sz="2400" b="1" dirty="0">
                <a:solidFill>
                  <a:schemeClr val="tx1"/>
                </a:solidFill>
              </a:rPr>
              <a:t>праздника:</a:t>
            </a:r>
          </a:p>
          <a:p>
            <a:pPr marL="0" indent="0">
              <a:buNone/>
            </a:pPr>
            <a:r>
              <a:rPr lang="ru-RU" sz="2400" b="1" dirty="0" smtClean="0">
                <a:solidFill>
                  <a:schemeClr val="tx1"/>
                </a:solidFill>
              </a:rPr>
              <a:t>Направить </a:t>
            </a:r>
            <a:r>
              <a:rPr lang="ru-RU" sz="2400" b="1" dirty="0">
                <a:solidFill>
                  <a:schemeClr val="tx1"/>
                </a:solidFill>
              </a:rPr>
              <a:t>внимание людей не на страх и </a:t>
            </a:r>
            <a:r>
              <a:rPr lang="ru-RU" sz="2400" b="1" dirty="0" err="1" smtClean="0">
                <a:solidFill>
                  <a:schemeClr val="tx1"/>
                </a:solidFill>
              </a:rPr>
              <a:t>смерть,а</a:t>
            </a:r>
            <a:r>
              <a:rPr lang="ru-RU" sz="2400" b="1" dirty="0" smtClean="0">
                <a:solidFill>
                  <a:schemeClr val="tx1"/>
                </a:solidFill>
              </a:rPr>
              <a:t> </a:t>
            </a:r>
            <a:r>
              <a:rPr lang="ru-RU" sz="2400" b="1" dirty="0">
                <a:solidFill>
                  <a:schemeClr val="tx1"/>
                </a:solidFill>
              </a:rPr>
              <a:t>на вечную жизнь, надежду и святость.</a:t>
            </a:r>
            <a:endParaRPr lang="uk-UA" sz="2400" b="1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817" y="2290157"/>
            <a:ext cx="3253423" cy="233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7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273695"/>
          </a:xfrm>
        </p:spPr>
        <p:txBody>
          <a:bodyPr>
            <a:normAutofit/>
          </a:bodyPr>
          <a:lstStyle/>
          <a:p>
            <a:r>
              <a:rPr lang="ru-RU" sz="4800" dirty="0" smtClean="0"/>
              <a:t>Как появился </a:t>
            </a:r>
            <a:r>
              <a:rPr lang="ru-RU" sz="4800" dirty="0" err="1" smtClean="0"/>
              <a:t>хэллоуин</a:t>
            </a:r>
            <a:r>
              <a:rPr lang="ru-RU" sz="4800" dirty="0" smtClean="0"/>
              <a:t>?</a:t>
            </a:r>
            <a:endParaRPr lang="uk-UA" sz="4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5118" y="1788161"/>
            <a:ext cx="10178322" cy="4132072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</a:rPr>
              <a:t>Вечер накануне Дня всех святых </a:t>
            </a:r>
            <a:r>
              <a:rPr lang="ru-RU" b="1" dirty="0" smtClean="0">
                <a:solidFill>
                  <a:schemeClr val="tx1"/>
                </a:solidFill>
              </a:rPr>
              <a:t>назывался </a:t>
            </a:r>
            <a:r>
              <a:rPr lang="ru-RU" b="1" dirty="0" err="1" smtClean="0">
                <a:solidFill>
                  <a:schemeClr val="tx1"/>
                </a:solidFill>
              </a:rPr>
              <a:t>All</a:t>
            </a:r>
            <a:r>
              <a:rPr lang="ru-RU" b="1" dirty="0" smtClean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Hallows</a:t>
            </a:r>
            <a:r>
              <a:rPr lang="ru-RU" b="1" dirty="0">
                <a:solidFill>
                  <a:schemeClr val="tx1"/>
                </a:solidFill>
              </a:rPr>
              <a:t>’ </a:t>
            </a:r>
            <a:r>
              <a:rPr lang="ru-RU" b="1" dirty="0" err="1">
                <a:solidFill>
                  <a:schemeClr val="tx1"/>
                </a:solidFill>
              </a:rPr>
              <a:t>Eve</a:t>
            </a:r>
            <a:r>
              <a:rPr lang="ru-RU" b="1" dirty="0">
                <a:solidFill>
                  <a:schemeClr val="tx1"/>
                </a:solidFill>
              </a:rPr>
              <a:t> — «Вечер всех святых».</a:t>
            </a:r>
          </a:p>
          <a:p>
            <a:pPr marL="0" indent="0">
              <a:buNone/>
            </a:pPr>
            <a:r>
              <a:rPr lang="ru-RU" b="1" dirty="0" smtClean="0">
                <a:solidFill>
                  <a:schemeClr val="tx1"/>
                </a:solidFill>
              </a:rPr>
              <a:t>Со </a:t>
            </a:r>
            <a:r>
              <a:rPr lang="ru-RU" b="1" dirty="0">
                <a:solidFill>
                  <a:schemeClr val="tx1"/>
                </a:solidFill>
              </a:rPr>
              <a:t>временем фраза сократилась до слова </a:t>
            </a:r>
            <a:r>
              <a:rPr lang="ru-RU" b="1" dirty="0" err="1">
                <a:solidFill>
                  <a:schemeClr val="tx1"/>
                </a:solidFill>
              </a:rPr>
              <a:t>Halloween</a:t>
            </a:r>
            <a:r>
              <a:rPr lang="ru-RU" b="1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ru-RU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Но вместо того чтобы прославлять Бога и святых, люди начали возвращать старые обычаи </a:t>
            </a:r>
            <a:r>
              <a:rPr lang="ru-RU" b="1" dirty="0" err="1">
                <a:solidFill>
                  <a:schemeClr val="tx1"/>
                </a:solidFill>
              </a:rPr>
              <a:t>Самайна</a:t>
            </a:r>
            <a:r>
              <a:rPr lang="ru-RU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 • наряжаться в страшные костюмы,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 • зажигать огни и фонари,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 • шутить о смерти и духах,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 • устраивать вечеринки и гадания.</a:t>
            </a:r>
          </a:p>
          <a:p>
            <a:pPr marL="0" indent="0">
              <a:buNone/>
            </a:pPr>
            <a:endParaRPr lang="uk-UA" b="1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965" y="3854197"/>
            <a:ext cx="3914646" cy="195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680720"/>
            <a:ext cx="10178322" cy="3139440"/>
          </a:xfrm>
        </p:spPr>
        <p:txBody>
          <a:bodyPr>
            <a:normAutofit fontScale="90000"/>
          </a:bodyPr>
          <a:lstStyle/>
          <a:p>
            <a:r>
              <a:rPr lang="ru-RU" dirty="0"/>
              <a:t>«Вы были некогда тьма, а теперь — свет в Господе; поступайте, как чада света»</a:t>
            </a:r>
            <a:br>
              <a:rPr lang="ru-RU" dirty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Ефесянам</a:t>
            </a:r>
            <a:r>
              <a:rPr lang="ru-RU" dirty="0" smtClean="0"/>
              <a:t> </a:t>
            </a:r>
            <a:r>
              <a:rPr lang="ru-RU" dirty="0"/>
              <a:t>5:8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1678" y="4348480"/>
            <a:ext cx="10178322" cy="1531112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1"/>
                </a:solidFill>
              </a:rPr>
              <a:t>Бог призывает нас быть детьми света, а не участвовать в делах </a:t>
            </a:r>
            <a:r>
              <a:rPr lang="ru-RU" sz="3600" b="1" dirty="0" smtClean="0">
                <a:solidFill>
                  <a:schemeClr val="tx1"/>
                </a:solidFill>
              </a:rPr>
              <a:t>тьмы!</a:t>
            </a:r>
            <a:endParaRPr lang="uk-UA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00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говорит Библия?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1360" y="1950721"/>
            <a:ext cx="7103110" cy="4632960"/>
          </a:xfrm>
        </p:spPr>
        <p:txBody>
          <a:bodyPr/>
          <a:lstStyle/>
          <a:p>
            <a:pPr marL="0" indent="0">
              <a:buNone/>
            </a:pPr>
            <a:r>
              <a:rPr lang="uk-UA" b="1" dirty="0">
                <a:solidFill>
                  <a:schemeClr val="tx1"/>
                </a:solidFill>
              </a:rPr>
              <a:t>🔹 </a:t>
            </a:r>
            <a:r>
              <a:rPr lang="uk-UA" b="1" dirty="0" err="1">
                <a:solidFill>
                  <a:schemeClr val="tx1"/>
                </a:solidFill>
              </a:rPr>
              <a:t>Второзаконие</a:t>
            </a:r>
            <a:r>
              <a:rPr lang="uk-UA" b="1" dirty="0">
                <a:solidFill>
                  <a:schemeClr val="tx1"/>
                </a:solidFill>
              </a:rPr>
              <a:t> </a:t>
            </a:r>
            <a:r>
              <a:rPr lang="uk-UA" b="1" dirty="0" smtClean="0">
                <a:solidFill>
                  <a:schemeClr val="tx1"/>
                </a:solidFill>
              </a:rPr>
              <a:t>18:10–12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📌 Бог ясно говорит: всё, что связано с колдовством, гаданиями, духами — мерзость для Него</a:t>
            </a:r>
            <a:r>
              <a:rPr lang="ru-RU" b="1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uk-UA" b="1" dirty="0">
                <a:solidFill>
                  <a:schemeClr val="tx1"/>
                </a:solidFill>
              </a:rPr>
              <a:t>🔹 2 Коринфянам </a:t>
            </a:r>
            <a:r>
              <a:rPr lang="uk-UA" b="1" dirty="0" smtClean="0">
                <a:solidFill>
                  <a:schemeClr val="tx1"/>
                </a:solidFill>
              </a:rPr>
              <a:t>6:14–16</a:t>
            </a:r>
          </a:p>
          <a:p>
            <a:pPr marL="0" indent="0">
              <a:buNone/>
            </a:pPr>
            <a:endParaRPr lang="ru-RU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</a:rPr>
              <a:t>Хэллоуин,  делает зло «забавным», чтобы притупить духовную чувствительность. Люди перестают бояться греха, смерти и тьмы</a:t>
            </a:r>
            <a:endParaRPr lang="uk-UA" b="1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370" y="2423477"/>
            <a:ext cx="3691876" cy="230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4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9038" y="833120"/>
            <a:ext cx="7760242" cy="5066793"/>
          </a:xfrm>
        </p:spPr>
        <p:txBody>
          <a:bodyPr/>
          <a:lstStyle/>
          <a:p>
            <a:pPr marL="0" indent="0">
              <a:buNone/>
            </a:pPr>
            <a:endParaRPr lang="ru-RU" b="1" dirty="0">
              <a:solidFill>
                <a:schemeClr val="tx1"/>
              </a:solidFill>
            </a:endParaRPr>
          </a:p>
          <a:p>
            <a:r>
              <a:rPr lang="ru-RU" b="1" dirty="0">
                <a:solidFill>
                  <a:schemeClr val="tx1"/>
                </a:solidFill>
              </a:rPr>
              <a:t>Хэллоуин — это не просто весёлый праздник с костюмами. Его корни связаны с тем, что люди праздновали тьму, смерть и зло. Но мы — Божьи дети, и наш путь другой. Мы выбираем свет, добро и истину.</a:t>
            </a:r>
          </a:p>
          <a:p>
            <a:endParaRPr lang="ru-RU" b="1" dirty="0">
              <a:solidFill>
                <a:schemeClr val="tx1"/>
              </a:solidFill>
            </a:endParaRPr>
          </a:p>
          <a:p>
            <a:r>
              <a:rPr lang="ru-RU" b="1" i="1" u="sng" dirty="0">
                <a:solidFill>
                  <a:schemeClr val="tx1"/>
                </a:solidFill>
              </a:rPr>
              <a:t>📖 «Не участвуйте в делах тьмы, а лучше разоблачайте их» (</a:t>
            </a:r>
            <a:r>
              <a:rPr lang="ru-RU" b="1" i="1" u="sng" dirty="0" err="1">
                <a:solidFill>
                  <a:schemeClr val="tx1"/>
                </a:solidFill>
              </a:rPr>
              <a:t>Еф</a:t>
            </a:r>
            <a:r>
              <a:rPr lang="ru-RU" b="1" i="1" u="sng" dirty="0">
                <a:solidFill>
                  <a:schemeClr val="tx1"/>
                </a:solidFill>
              </a:rPr>
              <a:t>. 5:11)</a:t>
            </a:r>
          </a:p>
          <a:p>
            <a:endParaRPr lang="ru-RU" b="1" dirty="0">
              <a:solidFill>
                <a:schemeClr val="tx1"/>
              </a:solidFill>
            </a:endParaRPr>
          </a:p>
          <a:p>
            <a:r>
              <a:rPr lang="ru-RU" b="1" dirty="0">
                <a:solidFill>
                  <a:schemeClr val="tx1"/>
                </a:solidFill>
              </a:rPr>
              <a:t>✨ Пусть в нас видят свет, а не маску тьмы.</a:t>
            </a:r>
            <a:endParaRPr lang="uk-UA" b="1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42814">
            <a:off x="8163068" y="2108756"/>
            <a:ext cx="3276479" cy="294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41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Эмблема</Template>
  <TotalTime>77</TotalTime>
  <Words>326</Words>
  <Application>Microsoft Office PowerPoint</Application>
  <PresentationFormat>Широкоэкранный</PresentationFormat>
  <Paragraphs>37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Corbel</vt:lpstr>
      <vt:lpstr>Gill Sans MT</vt:lpstr>
      <vt:lpstr>Impact</vt:lpstr>
      <vt:lpstr>Badge</vt:lpstr>
      <vt:lpstr>«Хэллоуин — праздник тьмы или света?»</vt:lpstr>
      <vt:lpstr>От самайна к хэллоуину</vt:lpstr>
      <vt:lpstr>День всех святых — праздник света</vt:lpstr>
      <vt:lpstr>Как появился хэллоуин?</vt:lpstr>
      <vt:lpstr>«Вы были некогда тьма, а теперь — свет в Господе; поступайте, как чада света»  Ефесянам 5:8</vt:lpstr>
      <vt:lpstr>Что говорит Библия?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«Хэллоуин — праздник тьмы или света?»</dc:title>
  <dc:creator>User</dc:creator>
  <cp:lastModifiedBy>User</cp:lastModifiedBy>
  <cp:revision>7</cp:revision>
  <dcterms:created xsi:type="dcterms:W3CDTF">2025-10-31T17:40:49Z</dcterms:created>
  <dcterms:modified xsi:type="dcterms:W3CDTF">2025-10-31T18:57:50Z</dcterms:modified>
</cp:coreProperties>
</file>