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67477F2-5A0F-42E9-B86F-914C3162316F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7D5A97-6611-48AB-9FDE-31E4FDC5D36B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550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77F2-5A0F-42E9-B86F-914C3162316F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5A97-6611-48AB-9FDE-31E4FDC5D3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981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77F2-5A0F-42E9-B86F-914C3162316F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5A97-6611-48AB-9FDE-31E4FDC5D36B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05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77F2-5A0F-42E9-B86F-914C3162316F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5A97-6611-48AB-9FDE-31E4FDC5D3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506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77F2-5A0F-42E9-B86F-914C3162316F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5A97-6611-48AB-9FDE-31E4FDC5D3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112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77F2-5A0F-42E9-B86F-914C3162316F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5A97-6611-48AB-9FDE-31E4FDC5D3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0822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77F2-5A0F-42E9-B86F-914C3162316F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5A97-6611-48AB-9FDE-31E4FDC5D3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341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77F2-5A0F-42E9-B86F-914C3162316F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5A97-6611-48AB-9FDE-31E4FDC5D3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801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77F2-5A0F-42E9-B86F-914C3162316F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5A97-6611-48AB-9FDE-31E4FDC5D3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504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77F2-5A0F-42E9-B86F-914C3162316F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5A97-6611-48AB-9FDE-31E4FDC5D3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771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77F2-5A0F-42E9-B86F-914C3162316F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5A97-6611-48AB-9FDE-31E4FDC5D3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4582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67477F2-5A0F-42E9-B86F-914C3162316F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D7D5A97-6611-48AB-9FDE-31E4FDC5D3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4764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59971" y="390579"/>
            <a:ext cx="5943600" cy="5378850"/>
          </a:xfrm>
        </p:spPr>
        <p:txBody>
          <a:bodyPr>
            <a:normAutofit/>
          </a:bodyPr>
          <a:lstStyle/>
          <a:p>
            <a:r>
              <a:rPr lang="ru-RU" sz="6600" dirty="0">
                <a:solidFill>
                  <a:schemeClr val="accent2">
                    <a:lumMod val="50000"/>
                  </a:schemeClr>
                </a:solidFill>
              </a:rPr>
              <a:t>Настоящая </a:t>
            </a:r>
            <a:r>
              <a:rPr lang="ru-RU" sz="6600" dirty="0" smtClean="0">
                <a:solidFill>
                  <a:schemeClr val="accent2">
                    <a:lumMod val="50000"/>
                  </a:schemeClr>
                </a:solidFill>
              </a:rPr>
              <a:t>Пасха</a:t>
            </a:r>
            <a:br>
              <a:rPr lang="ru-RU" sz="6600" dirty="0" smtClean="0">
                <a:solidFill>
                  <a:schemeClr val="accent2">
                    <a:lumMod val="50000"/>
                  </a:schemeClr>
                </a:solidFill>
              </a:rPr>
            </a:br>
            <a:r>
              <a:rPr lang="ru-RU" sz="6600" dirty="0">
                <a:solidFill>
                  <a:schemeClr val="accent2">
                    <a:lumMod val="50000"/>
                  </a:schemeClr>
                </a:solidFill>
              </a:rPr>
              <a:t/>
            </a:r>
            <a:br>
              <a:rPr lang="ru-RU" sz="66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ru-RU" sz="6600" dirty="0" smtClean="0">
                <a:solidFill>
                  <a:schemeClr val="accent2">
                    <a:lumMod val="50000"/>
                  </a:schemeClr>
                </a:solidFill>
              </a:rPr>
              <a:t>Трендовая Пасха</a:t>
            </a:r>
            <a:endParaRPr lang="ru-RU" sz="6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316" y="2544948"/>
            <a:ext cx="1754909" cy="175490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81706">
            <a:off x="6988354" y="2747610"/>
            <a:ext cx="1877784" cy="331209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07809">
            <a:off x="6690223" y="886243"/>
            <a:ext cx="4364411" cy="244407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6305">
            <a:off x="8446036" y="2276250"/>
            <a:ext cx="4719193" cy="451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9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                      </a:t>
            </a:r>
            <a:r>
              <a:rPr lang="ru-RU" sz="7200" b="1" dirty="0" smtClean="0">
                <a:solidFill>
                  <a:schemeClr val="accent2">
                    <a:lumMod val="50000"/>
                  </a:schemeClr>
                </a:solidFill>
              </a:rPr>
              <a:t>суть </a:t>
            </a:r>
            <a:r>
              <a:rPr lang="ru-RU" sz="7200" b="1" dirty="0">
                <a:solidFill>
                  <a:schemeClr val="accent2">
                    <a:lumMod val="50000"/>
                  </a:schemeClr>
                </a:solidFill>
              </a:rPr>
              <a:t>Пасхи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📖 «Он воскрес! Его нет здесь» (Марка 16:6)</a:t>
            </a:r>
          </a:p>
          <a:p>
            <a:endParaRPr lang="ru-RU" b="1" dirty="0">
              <a:solidFill>
                <a:schemeClr val="accent2">
                  <a:lumMod val="50000"/>
                </a:schemeClr>
              </a:solidFill>
            </a:endParaRPr>
          </a:p>
          <a:p>
            <a:pPr marL="45720" indent="0">
              <a:buNone/>
            </a:pP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 • Пасха = смерть и воскресение Иисуса</a:t>
            </a:r>
          </a:p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Смысл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:</a:t>
            </a:r>
          </a:p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•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прощение грехов</a:t>
            </a:r>
          </a:p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•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победа над смертью</a:t>
            </a:r>
          </a:p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•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новая жизнь</a:t>
            </a:r>
          </a:p>
          <a:p>
            <a:pPr marL="45720" indent="0">
              <a:buNone/>
            </a:pP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👉 Без этого Пасха теряет смысл полностью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490204"/>
            <a:ext cx="4489922" cy="251435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638" y="724458"/>
            <a:ext cx="2574444" cy="257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1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          Откуда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взялись «традиции» </a:t>
            </a: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?</a:t>
            </a:r>
            <a:endParaRPr lang="ru-RU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Люди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всегда добавляют символы, чтобы:</a:t>
            </a:r>
          </a:p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•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сделать праздник </a:t>
            </a: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“ярче”</a:t>
            </a:r>
            <a:endParaRPr lang="ru-RU" b="1" dirty="0">
              <a:solidFill>
                <a:schemeClr val="accent2">
                  <a:lumMod val="50000"/>
                </a:schemeClr>
              </a:solidFill>
            </a:endParaRPr>
          </a:p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•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передать детям</a:t>
            </a:r>
          </a:p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• приукрасить</a:t>
            </a:r>
            <a:endParaRPr lang="ru-RU" b="1" dirty="0">
              <a:solidFill>
                <a:schemeClr val="accent2">
                  <a:lumMod val="50000"/>
                </a:schemeClr>
              </a:solidFill>
            </a:endParaRPr>
          </a:p>
          <a:p>
            <a:pPr marL="45720" indent="0">
              <a:buNone/>
            </a:pPr>
            <a:endParaRPr lang="ru-RU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143000" y="4197096"/>
            <a:ext cx="6126480" cy="15712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200" b="1" dirty="0" smtClean="0">
                <a:solidFill>
                  <a:schemeClr val="accent2">
                    <a:lumMod val="50000"/>
                  </a:schemeClr>
                </a:solidFill>
              </a:rPr>
              <a:t>👉 Но:</a:t>
            </a:r>
          </a:p>
          <a:p>
            <a:r>
              <a:rPr lang="ru-RU" sz="2200" b="1" dirty="0" smtClean="0">
                <a:solidFill>
                  <a:schemeClr val="accent2">
                    <a:lumMod val="50000"/>
                  </a:schemeClr>
                </a:solidFill>
              </a:rPr>
              <a:t>Проблема не в символах.</a:t>
            </a:r>
          </a:p>
          <a:p>
            <a:r>
              <a:rPr lang="ru-RU" sz="2200" b="1" dirty="0" smtClean="0">
                <a:solidFill>
                  <a:schemeClr val="accent2">
                    <a:lumMod val="50000"/>
                  </a:schemeClr>
                </a:solidFill>
              </a:rPr>
              <a:t>Проблема — когда символ заменяет смысл.</a:t>
            </a:r>
            <a:endParaRPr lang="ru-RU" sz="2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092" y="4197096"/>
            <a:ext cx="3316796" cy="208618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075" y="1853374"/>
            <a:ext cx="3316796" cy="220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4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Зачем люди ‘придумывают’ лишнее?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1. Людям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легче говорить про традиции, чем про </a:t>
            </a: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истину</a:t>
            </a:r>
          </a:p>
          <a:p>
            <a:pPr marL="45720" indent="0">
              <a:buNone/>
            </a:pP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📌 Истина требует изменений — а традиции нет</a:t>
            </a:r>
          </a:p>
          <a:p>
            <a:pPr marL="45720" indent="0">
              <a:buNone/>
            </a:pPr>
            <a:endParaRPr lang="ru-RU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. Люди хотят «удобную веру</a:t>
            </a: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»</a:t>
            </a:r>
            <a:endParaRPr lang="ru-RU" b="1" dirty="0">
              <a:solidFill>
                <a:schemeClr val="accent2">
                  <a:lumMod val="50000"/>
                </a:schemeClr>
              </a:solidFill>
            </a:endParaRPr>
          </a:p>
          <a:p>
            <a:pPr marL="45720" indent="0">
              <a:buNone/>
            </a:pPr>
            <a:endParaRPr lang="ru-RU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3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. Мир превращает всё в контент</a:t>
            </a:r>
          </a:p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 👉 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мир продаёт эмоции, а не истину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114" y="3360419"/>
            <a:ext cx="3809238" cy="213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4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Почему это так активно продвигается?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801368"/>
            <a:ext cx="9872871" cy="429463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💰  Бизнес</a:t>
            </a:r>
            <a:endParaRPr lang="ru-RU" b="1" dirty="0">
              <a:solidFill>
                <a:schemeClr val="accent2">
                  <a:lumMod val="50000"/>
                </a:schemeClr>
              </a:solidFill>
            </a:endParaRPr>
          </a:p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•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Пасха = </a:t>
            </a: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продажи (декор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, еда, </a:t>
            </a: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подарки)</a:t>
            </a:r>
            <a:endParaRPr lang="ru-RU" b="1" dirty="0">
              <a:solidFill>
                <a:schemeClr val="accent2">
                  <a:lumMod val="50000"/>
                </a:schemeClr>
              </a:solidFill>
            </a:endParaRPr>
          </a:p>
          <a:p>
            <a:pPr marL="45720" indent="0">
              <a:buNone/>
            </a:pPr>
            <a:endParaRPr lang="ru-RU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📱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Тренды и соцсети</a:t>
            </a:r>
          </a:p>
          <a:p>
            <a:pPr marL="45720" indent="0">
              <a:buNone/>
            </a:pP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 • </a:t>
            </a: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“красиво” важнее, чем “глубоко”</a:t>
            </a:r>
          </a:p>
          <a:p>
            <a:pPr marL="45720" indent="0">
              <a:buNone/>
            </a:pPr>
            <a:endParaRPr lang="ru-RU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🧠    Духовная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подмена</a:t>
            </a:r>
          </a:p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👉 </a:t>
            </a: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проблема не в яйцах, куличах или традициях</a:t>
            </a:r>
          </a:p>
          <a:p>
            <a:pPr marL="45720" indent="0">
              <a:buNone/>
            </a:pP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👉 проблема, когда это становится главным</a:t>
            </a:r>
            <a:endParaRPr lang="ru-RU" b="1" dirty="0">
              <a:solidFill>
                <a:schemeClr val="accent2">
                  <a:lumMod val="50000"/>
                </a:schemeClr>
              </a:solidFill>
            </a:endParaRPr>
          </a:p>
          <a:p>
            <a:pPr marL="4572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79450">
            <a:off x="6982198" y="1362456"/>
            <a:ext cx="1940504" cy="281787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64352">
            <a:off x="9675068" y="869055"/>
            <a:ext cx="1652569" cy="29718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549" y="3988783"/>
            <a:ext cx="1712022" cy="248821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088" y="3584448"/>
            <a:ext cx="1844309" cy="264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69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                     📖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Золотой стих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408176" y="2459736"/>
            <a:ext cx="8321040" cy="22677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chemeClr val="accent2">
                    <a:lumMod val="50000"/>
                  </a:schemeClr>
                </a:solidFill>
              </a:rPr>
              <a:t>«Если Христос не воскрес, то вера ваша тщетна» </a:t>
            </a:r>
          </a:p>
          <a:p>
            <a:pPr algn="ctr"/>
            <a:r>
              <a:rPr lang="ru-RU" sz="2800" b="1" dirty="0" smtClean="0">
                <a:solidFill>
                  <a:schemeClr val="accent2">
                    <a:lumMod val="50000"/>
                  </a:schemeClr>
                </a:solidFill>
              </a:rPr>
              <a:t>(1 Коринфянам 15:17)</a:t>
            </a:r>
            <a:endParaRPr lang="ru-RU" sz="2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75" y="1772063"/>
            <a:ext cx="5435282" cy="543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50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89304" y="609600"/>
            <a:ext cx="9875520" cy="1356360"/>
          </a:xfrm>
        </p:spPr>
        <p:txBody>
          <a:bodyPr/>
          <a:lstStyle/>
          <a:p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                              Итог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590" y="1581912"/>
            <a:ext cx="2734818" cy="426935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728216"/>
            <a:ext cx="4656582" cy="4202763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0240" y="1574923"/>
            <a:ext cx="7093095" cy="4276344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pPr marL="45720" indent="0" algn="ctr">
              <a:buNone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“Бог не умер за куличи.</a:t>
            </a:r>
          </a:p>
          <a:p>
            <a:pPr marL="45720" indent="0" algn="ctr">
              <a:buNone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Не за традиции.</a:t>
            </a:r>
          </a:p>
          <a:p>
            <a:pPr marL="45720" indent="0" algn="ctr">
              <a:buNone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Не за атмосферу.</a:t>
            </a:r>
          </a:p>
          <a:p>
            <a:pPr marL="45720" indent="0" algn="ctr">
              <a:buNone/>
            </a:pPr>
            <a:endParaRPr lang="ru-RU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45720" indent="0" algn="ctr">
              <a:buNone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Он умер за тебя.</a:t>
            </a:r>
          </a:p>
          <a:p>
            <a:pPr algn="ctr"/>
            <a:endParaRPr lang="ru-RU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45720" indent="0" algn="ctr">
              <a:buNone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И Пасха — это не то, что снаружи.</a:t>
            </a:r>
          </a:p>
          <a:p>
            <a:pPr marL="45720" indent="0" algn="ctr">
              <a:buNone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Это то, что произошло внутри.”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65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Базис">
  <a:themeElements>
    <a:clrScheme name="Желтый и оранжевый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TM03457444[[fn=Базис]]</Template>
  <TotalTime>191</TotalTime>
  <Words>248</Words>
  <Application>Microsoft Office PowerPoint</Application>
  <PresentationFormat>Широкоэкранный</PresentationFormat>
  <Paragraphs>49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9" baseType="lpstr">
      <vt:lpstr>Corbel</vt:lpstr>
      <vt:lpstr>Базис</vt:lpstr>
      <vt:lpstr>Настоящая Пасха  Трендовая Пасха</vt:lpstr>
      <vt:lpstr>                      суть Пасхи</vt:lpstr>
      <vt:lpstr>          Откуда взялись «традиции» ?</vt:lpstr>
      <vt:lpstr>Зачем люди ‘придумывают’ лишнее?</vt:lpstr>
      <vt:lpstr> Почему это так активно продвигается? </vt:lpstr>
      <vt:lpstr>                     📖 Золотой стих </vt:lpstr>
      <vt:lpstr>                              Итог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Настоящая Пасха vs Трендовая Пасха</dc:title>
  <dc:creator>Lenovo</dc:creator>
  <cp:lastModifiedBy>Lenovo</cp:lastModifiedBy>
  <cp:revision>15</cp:revision>
  <dcterms:created xsi:type="dcterms:W3CDTF">2026-04-10T15:27:42Z</dcterms:created>
  <dcterms:modified xsi:type="dcterms:W3CDTF">2026-04-11T08:22:10Z</dcterms:modified>
</cp:coreProperties>
</file>